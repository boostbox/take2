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9" r:id="rId3"/>
    <p:sldId id="260" r:id="rId4"/>
    <p:sldId id="268" r:id="rId5"/>
    <p:sldId id="261" r:id="rId6"/>
    <p:sldId id="262" r:id="rId7"/>
    <p:sldId id="263" r:id="rId8"/>
    <p:sldId id="264" r:id="rId9"/>
    <p:sldId id="265" r:id="rId10"/>
    <p:sldId id="266" r:id="rId11"/>
    <p:sldId id="269" r:id="rId12"/>
    <p:sldId id="270" r:id="rId13"/>
    <p:sldId id="272" r:id="rId14"/>
    <p:sldId id="273" r:id="rId15"/>
    <p:sldId id="274" r:id="rId16"/>
    <p:sldId id="275" r:id="rId17"/>
    <p:sldId id="276" r:id="rId18"/>
    <p:sldId id="271" r:id="rId19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765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25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9CABCD-3EFF-427E-AF8E-6DD24CC954A7}" type="datetimeFigureOut">
              <a:rPr lang="ko-KR" altLang="en-US" smtClean="0"/>
              <a:t>2026-08-21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6C8DC1-3DB8-43BB-9F7F-190343FF67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842059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9CABCD-3EFF-427E-AF8E-6DD24CC954A7}" type="datetimeFigureOut">
              <a:rPr lang="ko-KR" altLang="en-US" smtClean="0"/>
              <a:t>2026-08-21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6C8DC1-3DB8-43BB-9F7F-190343FF67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338708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9CABCD-3EFF-427E-AF8E-6DD24CC954A7}" type="datetimeFigureOut">
              <a:rPr lang="ko-KR" altLang="en-US" smtClean="0"/>
              <a:t>2026-08-21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6C8DC1-3DB8-43BB-9F7F-190343FF67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494579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9CABCD-3EFF-427E-AF8E-6DD24CC954A7}" type="datetimeFigureOut">
              <a:rPr lang="ko-KR" altLang="en-US" smtClean="0"/>
              <a:t>2026-08-21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6C8DC1-3DB8-43BB-9F7F-190343FF67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193163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9CABCD-3EFF-427E-AF8E-6DD24CC954A7}" type="datetimeFigureOut">
              <a:rPr lang="ko-KR" altLang="en-US" smtClean="0"/>
              <a:t>2026-08-21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6C8DC1-3DB8-43BB-9F7F-190343FF67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82695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9CABCD-3EFF-427E-AF8E-6DD24CC954A7}" type="datetimeFigureOut">
              <a:rPr lang="ko-KR" altLang="en-US" smtClean="0"/>
              <a:t>2026-08-21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6C8DC1-3DB8-43BB-9F7F-190343FF67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208305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9CABCD-3EFF-427E-AF8E-6DD24CC954A7}" type="datetimeFigureOut">
              <a:rPr lang="ko-KR" altLang="en-US" smtClean="0"/>
              <a:t>2026-08-21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6C8DC1-3DB8-43BB-9F7F-190343FF67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578186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9CABCD-3EFF-427E-AF8E-6DD24CC954A7}" type="datetimeFigureOut">
              <a:rPr lang="ko-KR" altLang="en-US" smtClean="0"/>
              <a:t>2026-08-21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6C8DC1-3DB8-43BB-9F7F-190343FF67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974771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9CABCD-3EFF-427E-AF8E-6DD24CC954A7}" type="datetimeFigureOut">
              <a:rPr lang="ko-KR" altLang="en-US" smtClean="0"/>
              <a:t>2026-08-21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6C8DC1-3DB8-43BB-9F7F-190343FF67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546092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9CABCD-3EFF-427E-AF8E-6DD24CC954A7}" type="datetimeFigureOut">
              <a:rPr lang="ko-KR" altLang="en-US" smtClean="0"/>
              <a:t>2026-08-21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6C8DC1-3DB8-43BB-9F7F-190343FF67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727456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9CABCD-3EFF-427E-AF8E-6DD24CC954A7}" type="datetimeFigureOut">
              <a:rPr lang="ko-KR" altLang="en-US" smtClean="0"/>
              <a:t>2026-08-21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6C8DC1-3DB8-43BB-9F7F-190343FF67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331021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9CABCD-3EFF-427E-AF8E-6DD24CC954A7}" type="datetimeFigureOut">
              <a:rPr lang="ko-KR" altLang="en-US" smtClean="0"/>
              <a:t>2026-08-21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6C8DC1-3DB8-43BB-9F7F-190343FF67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655565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일일 모의해킹 결과</a:t>
            </a:r>
            <a:endParaRPr lang="ko-KR" altLang="en-US" dirty="0"/>
          </a:p>
        </p:txBody>
      </p:sp>
      <p:sp>
        <p:nvSpPr>
          <p:cNvPr id="5" name="텍스트 개체 틀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smtClean="0"/>
              <a:t>대상 </a:t>
            </a:r>
            <a:r>
              <a:rPr lang="en-US" altLang="ko-KR" dirty="0" smtClean="0"/>
              <a:t>: </a:t>
            </a:r>
            <a:r>
              <a:rPr lang="ko-KR" altLang="en-US" dirty="0" err="1" smtClean="0"/>
              <a:t>매직몰</a:t>
            </a:r>
            <a:endParaRPr lang="en-US" altLang="ko-KR" dirty="0" smtClean="0"/>
          </a:p>
          <a:p>
            <a:r>
              <a:rPr lang="en-US" altLang="ko-KR" dirty="0" smtClean="0"/>
              <a:t>URL : </a:t>
            </a:r>
            <a:r>
              <a:rPr lang="en-US" altLang="ko-KR" dirty="0"/>
              <a:t>https://skmagic.com/</a:t>
            </a:r>
            <a:endParaRPr lang="ko-KR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31812978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2235200"/>
            <a:ext cx="9144000" cy="2387600"/>
          </a:xfrm>
        </p:spPr>
        <p:txBody>
          <a:bodyPr anchor="ctr"/>
          <a:lstStyle/>
          <a:p>
            <a:r>
              <a:rPr lang="ko-KR" altLang="en-US" dirty="0" smtClean="0"/>
              <a:t>에러 페이지 적용 미흡</a:t>
            </a:r>
            <a:endParaRPr lang="ko-KR" altLang="en-US" dirty="0"/>
          </a:p>
        </p:txBody>
      </p:sp>
      <p:sp>
        <p:nvSpPr>
          <p:cNvPr id="3" name="텍스트 개체 틀 4"/>
          <p:cNvSpPr txBox="1">
            <a:spLocks/>
          </p:cNvSpPr>
          <p:nvPr/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 smtClean="0"/>
              <a:t>URL : </a:t>
            </a:r>
            <a:r>
              <a:rPr lang="en-US" altLang="ko-KR" dirty="0"/>
              <a:t>https://skmagic.com/monitor</a:t>
            </a:r>
            <a:r>
              <a:rPr lang="en-US" altLang="ko-KR" dirty="0" smtClean="0"/>
              <a:t>/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586843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105318" y="492369"/>
            <a:ext cx="3306996" cy="36933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5400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/>
              <a:t>https://skmagic.com/monitor/</a:t>
            </a:r>
            <a:endParaRPr lang="ko-KR" altLang="en-US" dirty="0"/>
          </a:p>
        </p:txBody>
      </p:sp>
      <p:grpSp>
        <p:nvGrpSpPr>
          <p:cNvPr id="4" name="그룹 3"/>
          <p:cNvGrpSpPr/>
          <p:nvPr/>
        </p:nvGrpSpPr>
        <p:grpSpPr>
          <a:xfrm>
            <a:off x="828888" y="987679"/>
            <a:ext cx="10400000" cy="5704762"/>
            <a:chOff x="828888" y="987679"/>
            <a:chExt cx="10400000" cy="5704762"/>
          </a:xfrm>
        </p:grpSpPr>
        <p:pic>
          <p:nvPicPr>
            <p:cNvPr id="2" name="그림 1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8888" y="987679"/>
              <a:ext cx="10400000" cy="5704762"/>
            </a:xfrm>
            <a:prstGeom prst="rect">
              <a:avLst/>
            </a:prstGeom>
          </p:spPr>
        </p:pic>
        <p:sp>
          <p:nvSpPr>
            <p:cNvPr id="3" name="직사각형 2"/>
            <p:cNvSpPr/>
            <p:nvPr/>
          </p:nvSpPr>
          <p:spPr>
            <a:xfrm>
              <a:off x="2248250" y="1048624"/>
              <a:ext cx="1501629" cy="251670"/>
            </a:xfrm>
            <a:prstGeom prst="rect">
              <a:avLst/>
            </a:prstGeom>
            <a:noFill/>
            <a:ln w="25400">
              <a:solidFill>
                <a:srgbClr val="FF0000"/>
              </a:solidFill>
            </a:ln>
          </p:spPr>
          <p:txBody>
            <a:bodyPr wrap="none" rtlCol="0" anchor="ctr">
              <a:spAutoFit/>
            </a:bodyPr>
            <a:lstStyle/>
            <a:p>
              <a:pPr algn="ctr"/>
              <a:endParaRPr lang="ko-KR" altLang="en-US" dirty="0" smtClean="0"/>
            </a:p>
          </p:txBody>
        </p:sp>
      </p:grpSp>
    </p:spTree>
    <p:extLst>
      <p:ext uri="{BB962C8B-B14F-4D97-AF65-F5344CB8AC3E}">
        <p14:creationId xmlns:p14="http://schemas.microsoft.com/office/powerpoint/2010/main" val="6449849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조치 방안</a:t>
            </a:r>
            <a:endParaRPr lang="ko-KR" altLang="en-US" dirty="0"/>
          </a:p>
        </p:txBody>
      </p:sp>
      <p:sp>
        <p:nvSpPr>
          <p:cNvPr id="4" name="세로 텍스트 개체 틀 3"/>
          <p:cNvSpPr>
            <a:spLocks noGrp="1"/>
          </p:cNvSpPr>
          <p:nvPr>
            <p:ph type="body" orient="vert" idx="1"/>
          </p:nvPr>
        </p:nvSpPr>
        <p:spPr/>
        <p:txBody>
          <a:bodyPr vert="horz" anchor="t" anchorCtr="0"/>
          <a:lstStyle/>
          <a:p>
            <a:r>
              <a:rPr lang="ko-KR" altLang="en-US" dirty="0" smtClean="0"/>
              <a:t>오류 전용 페이지를 제작하고 모든 에러는 하나의 페이지로 처리해 정보가 노출되지 않도록 조치</a:t>
            </a:r>
            <a:endParaRPr lang="en-US" altLang="ko-KR" dirty="0" smtClean="0"/>
          </a:p>
          <a:p>
            <a:pPr marL="0" indent="0">
              <a:buNone/>
            </a:pPr>
            <a:endParaRPr lang="en-US" altLang="ko-KR" dirty="0" smtClean="0"/>
          </a:p>
          <a:p>
            <a:r>
              <a:rPr lang="ko-KR" altLang="en-US" dirty="0" smtClean="0"/>
              <a:t>오류 세부 정보는 서버 로그에서만 확인할 수 있도록 분리</a:t>
            </a:r>
            <a:endParaRPr lang="en-US" altLang="ko-KR" dirty="0" smtClean="0"/>
          </a:p>
          <a:p>
            <a:pPr marL="457200" lvl="1" indent="0">
              <a:buNone/>
            </a:pPr>
            <a:r>
              <a:rPr lang="en-US" altLang="ko-KR" sz="1600" dirty="0" smtClean="0"/>
              <a:t>&lt;</a:t>
            </a:r>
            <a:r>
              <a:rPr lang="ko-KR" altLang="en-US" sz="1600" dirty="0" smtClean="0"/>
              <a:t>예시</a:t>
            </a:r>
            <a:r>
              <a:rPr lang="en-US" altLang="ko-KR" sz="1600" dirty="0" smtClean="0"/>
              <a:t>&gt;</a:t>
            </a:r>
          </a:p>
          <a:p>
            <a:pPr marL="457200" lvl="1" indent="0">
              <a:buNone/>
            </a:pPr>
            <a:r>
              <a:rPr lang="en-US" altLang="ko-KR" sz="1600" dirty="0" smtClean="0"/>
              <a:t>Apache : apache2.conf</a:t>
            </a:r>
            <a:r>
              <a:rPr lang="ko-KR" altLang="en-US" sz="1600" dirty="0"/>
              <a:t> </a:t>
            </a:r>
            <a:r>
              <a:rPr lang="ko-KR" altLang="en-US" sz="1600" dirty="0" smtClean="0"/>
              <a:t>또는 </a:t>
            </a:r>
            <a:r>
              <a:rPr lang="en-US" altLang="ko-KR" sz="1600" dirty="0" err="1" smtClean="0"/>
              <a:t>httpd.conf</a:t>
            </a:r>
            <a:r>
              <a:rPr lang="ko-KR" altLang="en-US" sz="1600" dirty="0"/>
              <a:t> </a:t>
            </a:r>
            <a:r>
              <a:rPr lang="ko-KR" altLang="en-US" sz="1600" dirty="0" smtClean="0"/>
              <a:t>파일 내 지시자 추가</a:t>
            </a:r>
            <a:endParaRPr lang="en-US" altLang="ko-KR" sz="1600" dirty="0" smtClean="0"/>
          </a:p>
          <a:p>
            <a:pPr marL="457200" lvl="1" indent="0">
              <a:buNone/>
            </a:pPr>
            <a:r>
              <a:rPr lang="en-US" altLang="ko-KR" sz="1600" dirty="0" smtClean="0"/>
              <a:t>Tomcat : server.xml</a:t>
            </a:r>
            <a:r>
              <a:rPr lang="ko-KR" altLang="en-US" sz="1600" dirty="0" smtClean="0"/>
              <a:t>파일 내 지시자 추가</a:t>
            </a:r>
            <a:endParaRPr lang="ko-KR" altLang="en-US" sz="1600" dirty="0"/>
          </a:p>
        </p:txBody>
      </p:sp>
    </p:spTree>
    <p:extLst>
      <p:ext uri="{BB962C8B-B14F-4D97-AF65-F5344CB8AC3E}">
        <p14:creationId xmlns:p14="http://schemas.microsoft.com/office/powerpoint/2010/main" val="33777414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2235200"/>
            <a:ext cx="9144000" cy="2387600"/>
          </a:xfrm>
        </p:spPr>
        <p:txBody>
          <a:bodyPr anchor="ctr"/>
          <a:lstStyle/>
          <a:p>
            <a:r>
              <a:rPr lang="ko-KR" altLang="en-US" dirty="0" smtClean="0"/>
              <a:t>크로스사이트 스크립트</a:t>
            </a:r>
            <a:endParaRPr lang="ko-KR" altLang="en-US" dirty="0"/>
          </a:p>
        </p:txBody>
      </p:sp>
      <p:sp>
        <p:nvSpPr>
          <p:cNvPr id="4" name="텍스트 개체 틀 4"/>
          <p:cNvSpPr txBox="1">
            <a:spLocks/>
          </p:cNvSpPr>
          <p:nvPr/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 smtClean="0"/>
              <a:t>URL : </a:t>
            </a:r>
            <a:r>
              <a:rPr lang="ko-KR" altLang="en-US" dirty="0"/>
              <a:t>https://</a:t>
            </a:r>
            <a:r>
              <a:rPr lang="ko-KR" altLang="en-US" dirty="0" smtClean="0"/>
              <a:t>skmagic.com/customer/insertInquiry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250493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그룹 3"/>
          <p:cNvGrpSpPr/>
          <p:nvPr/>
        </p:nvGrpSpPr>
        <p:grpSpPr>
          <a:xfrm>
            <a:off x="813728" y="1038259"/>
            <a:ext cx="9110004" cy="5121299"/>
            <a:chOff x="572568" y="586083"/>
            <a:chExt cx="9110004" cy="5121299"/>
          </a:xfrm>
        </p:grpSpPr>
        <p:pic>
          <p:nvPicPr>
            <p:cNvPr id="2" name="그림 1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72568" y="586083"/>
              <a:ext cx="9110004" cy="5121299"/>
            </a:xfrm>
            <a:prstGeom prst="rect">
              <a:avLst/>
            </a:prstGeom>
          </p:spPr>
        </p:pic>
        <p:sp>
          <p:nvSpPr>
            <p:cNvPr id="3" name="직사각형 2"/>
            <p:cNvSpPr/>
            <p:nvPr/>
          </p:nvSpPr>
          <p:spPr>
            <a:xfrm>
              <a:off x="8690994" y="4009938"/>
              <a:ext cx="738232" cy="335559"/>
            </a:xfrm>
            <a:prstGeom prst="rect">
              <a:avLst/>
            </a:prstGeom>
            <a:noFill/>
            <a:ln w="25400">
              <a:solidFill>
                <a:srgbClr val="FF0000"/>
              </a:solidFill>
            </a:ln>
          </p:spPr>
          <p:txBody>
            <a:bodyPr wrap="none" rtlCol="0" anchor="ctr">
              <a:spAutoFit/>
            </a:bodyPr>
            <a:lstStyle/>
            <a:p>
              <a:pPr algn="ctr"/>
              <a:endParaRPr lang="ko-KR" altLang="en-US" dirty="0" smtClean="0"/>
            </a:p>
          </p:txBody>
        </p:sp>
      </p:grpSp>
      <p:sp>
        <p:nvSpPr>
          <p:cNvPr id="5" name="TextBox 4"/>
          <p:cNvSpPr txBox="1"/>
          <p:nvPr/>
        </p:nvSpPr>
        <p:spPr>
          <a:xfrm>
            <a:off x="813728" y="393484"/>
            <a:ext cx="4605748" cy="36933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5400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dirty="0" err="1" smtClean="0"/>
              <a:t>제품후기</a:t>
            </a:r>
            <a:r>
              <a:rPr lang="en-US" altLang="ko-KR" dirty="0" smtClean="0"/>
              <a:t>/</a:t>
            </a:r>
            <a:r>
              <a:rPr lang="ko-KR" altLang="en-US" dirty="0" smtClean="0"/>
              <a:t>문의 </a:t>
            </a:r>
            <a:r>
              <a:rPr lang="en-US" altLang="ko-KR" dirty="0" smtClean="0">
                <a:sym typeface="Wingdings" panose="05000000000000000000" pitchFamily="2" charset="2"/>
              </a:rPr>
              <a:t> </a:t>
            </a:r>
            <a:r>
              <a:rPr lang="en-US" altLang="ko-KR" dirty="0" smtClean="0"/>
              <a:t>1:1 </a:t>
            </a:r>
            <a:r>
              <a:rPr lang="ko-KR" altLang="en-US" dirty="0" smtClean="0"/>
              <a:t>문의 </a:t>
            </a:r>
            <a:r>
              <a:rPr lang="en-US" altLang="ko-KR" dirty="0" smtClean="0">
                <a:sym typeface="Wingdings" panose="05000000000000000000" pitchFamily="2" charset="2"/>
              </a:rPr>
              <a:t> </a:t>
            </a:r>
            <a:r>
              <a:rPr lang="ko-KR" altLang="en-US" dirty="0" smtClean="0">
                <a:sym typeface="Wingdings" panose="05000000000000000000" pitchFamily="2" charset="2"/>
              </a:rPr>
              <a:t>새 문의 등록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897988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그룹 10"/>
          <p:cNvGrpSpPr/>
          <p:nvPr/>
        </p:nvGrpSpPr>
        <p:grpSpPr>
          <a:xfrm>
            <a:off x="543206" y="110532"/>
            <a:ext cx="10277596" cy="5747459"/>
            <a:chOff x="543206" y="110532"/>
            <a:chExt cx="10277596" cy="5747459"/>
          </a:xfrm>
        </p:grpSpPr>
        <p:pic>
          <p:nvPicPr>
            <p:cNvPr id="9" name="그림 8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43206" y="110532"/>
              <a:ext cx="10277596" cy="5747459"/>
            </a:xfrm>
            <a:prstGeom prst="rect">
              <a:avLst/>
            </a:prstGeom>
          </p:spPr>
        </p:pic>
        <p:grpSp>
          <p:nvGrpSpPr>
            <p:cNvPr id="7" name="그룹 6"/>
            <p:cNvGrpSpPr/>
            <p:nvPr/>
          </p:nvGrpSpPr>
          <p:grpSpPr>
            <a:xfrm>
              <a:off x="4068661" y="1266738"/>
              <a:ext cx="4236440" cy="4209614"/>
              <a:chOff x="4068661" y="1266738"/>
              <a:chExt cx="4236440" cy="4209614"/>
            </a:xfrm>
          </p:grpSpPr>
          <p:sp>
            <p:nvSpPr>
              <p:cNvPr id="3" name="직사각형 2"/>
              <p:cNvSpPr/>
              <p:nvPr/>
            </p:nvSpPr>
            <p:spPr>
              <a:xfrm>
                <a:off x="4068661" y="1266738"/>
                <a:ext cx="4236440" cy="2306972"/>
              </a:xfrm>
              <a:prstGeom prst="rect">
                <a:avLst/>
              </a:prstGeom>
              <a:noFill/>
              <a:ln w="25400">
                <a:solidFill>
                  <a:srgbClr val="FF0000"/>
                </a:solidFill>
              </a:ln>
            </p:spPr>
            <p:txBody>
              <a:bodyPr wrap="none" rtlCol="0" anchor="ctr">
                <a:spAutoFit/>
              </a:bodyPr>
              <a:lstStyle/>
              <a:p>
                <a:pPr algn="ctr"/>
                <a:endParaRPr lang="ko-KR" altLang="en-US" dirty="0" smtClean="0"/>
              </a:p>
            </p:txBody>
          </p:sp>
          <p:cxnSp>
            <p:nvCxnSpPr>
              <p:cNvPr id="5" name="직선 화살표 연결선 4"/>
              <p:cNvCxnSpPr>
                <a:stCxn id="3" idx="2"/>
              </p:cNvCxnSpPr>
              <p:nvPr/>
            </p:nvCxnSpPr>
            <p:spPr>
              <a:xfrm>
                <a:off x="6186881" y="3573710"/>
                <a:ext cx="0" cy="1902642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8" name="TextBox 7"/>
          <p:cNvSpPr txBox="1"/>
          <p:nvPr/>
        </p:nvSpPr>
        <p:spPr>
          <a:xfrm>
            <a:off x="2019719" y="6219930"/>
            <a:ext cx="2901756" cy="36933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5400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dirty="0" smtClean="0"/>
              <a:t>문의 글 작성 후 문의하기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033200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798186" y="60299"/>
            <a:ext cx="4755725" cy="36933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5400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dirty="0"/>
              <a:t>https://skmagic.com/customer/insertInquiry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97415" y="60299"/>
            <a:ext cx="6161880" cy="646331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5400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dirty="0" smtClean="0"/>
              <a:t>발생 </a:t>
            </a:r>
            <a:r>
              <a:rPr lang="ko-KR" altLang="en-US" dirty="0" err="1" smtClean="0"/>
              <a:t>파라미터</a:t>
            </a:r>
            <a:r>
              <a:rPr lang="ko-KR" altLang="en-US" dirty="0" smtClean="0"/>
              <a:t> </a:t>
            </a:r>
            <a:r>
              <a:rPr lang="en-US" altLang="ko-KR" dirty="0" smtClean="0"/>
              <a:t>: content</a:t>
            </a:r>
          </a:p>
          <a:p>
            <a:r>
              <a:rPr lang="ko-KR" altLang="en-US" dirty="0" smtClean="0"/>
              <a:t>페이로드 </a:t>
            </a:r>
            <a:r>
              <a:rPr lang="en-US" altLang="ko-KR" dirty="0" smtClean="0"/>
              <a:t>: &lt;</a:t>
            </a:r>
            <a:r>
              <a:rPr lang="en-US" altLang="ko-KR" dirty="0" err="1" smtClean="0"/>
              <a:t>img</a:t>
            </a:r>
            <a:r>
              <a:rPr lang="en-US" altLang="ko-KR" dirty="0" smtClean="0"/>
              <a:t> </a:t>
            </a:r>
            <a:r>
              <a:rPr lang="en-US" altLang="ko-KR" dirty="0" err="1" smtClean="0"/>
              <a:t>src</a:t>
            </a:r>
            <a:r>
              <a:rPr lang="en-US" altLang="ko-KR" dirty="0" smtClean="0"/>
              <a:t>=x </a:t>
            </a:r>
            <a:r>
              <a:rPr lang="en-US" altLang="ko-KR" dirty="0" err="1" smtClean="0"/>
              <a:t>onpointerover</a:t>
            </a:r>
            <a:r>
              <a:rPr lang="en-US" altLang="ko-KR" dirty="0" smtClean="0"/>
              <a:t>=</a:t>
            </a:r>
            <a:r>
              <a:rPr lang="en-US" altLang="ko-KR" dirty="0" err="1" smtClean="0"/>
              <a:t>prompt`xss_cont</a:t>
            </a:r>
            <a:r>
              <a:rPr lang="en-US" altLang="ko-KR" dirty="0" smtClean="0"/>
              <a:t>`&gt;</a:t>
            </a:r>
            <a:endParaRPr lang="ko-KR" altLang="en-US" dirty="0"/>
          </a:p>
        </p:txBody>
      </p:sp>
      <p:grpSp>
        <p:nvGrpSpPr>
          <p:cNvPr id="12" name="그룹 11"/>
          <p:cNvGrpSpPr/>
          <p:nvPr/>
        </p:nvGrpSpPr>
        <p:grpSpPr>
          <a:xfrm>
            <a:off x="265650" y="794431"/>
            <a:ext cx="10576522" cy="5976984"/>
            <a:chOff x="265650" y="794431"/>
            <a:chExt cx="10576522" cy="5976984"/>
          </a:xfrm>
        </p:grpSpPr>
        <p:grpSp>
          <p:nvGrpSpPr>
            <p:cNvPr id="8" name="그룹 7"/>
            <p:cNvGrpSpPr/>
            <p:nvPr/>
          </p:nvGrpSpPr>
          <p:grpSpPr>
            <a:xfrm>
              <a:off x="265650" y="794431"/>
              <a:ext cx="10576522" cy="5976984"/>
              <a:chOff x="265650" y="794431"/>
              <a:chExt cx="10576522" cy="5976984"/>
            </a:xfrm>
          </p:grpSpPr>
          <p:pic>
            <p:nvPicPr>
              <p:cNvPr id="5" name="그림 4"/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265650" y="794431"/>
                <a:ext cx="10576522" cy="5976984"/>
              </a:xfrm>
              <a:prstGeom prst="rect">
                <a:avLst/>
              </a:prstGeom>
            </p:spPr>
          </p:pic>
          <p:sp>
            <p:nvSpPr>
              <p:cNvPr id="7" name="직사각형 6"/>
              <p:cNvSpPr/>
              <p:nvPr/>
            </p:nvSpPr>
            <p:spPr>
              <a:xfrm>
                <a:off x="3396343" y="5375868"/>
                <a:ext cx="3044650" cy="170822"/>
              </a:xfrm>
              <a:prstGeom prst="rect">
                <a:avLst/>
              </a:prstGeom>
              <a:noFill/>
              <a:ln w="25400">
                <a:solidFill>
                  <a:srgbClr val="FF0000"/>
                </a:solidFill>
              </a:ln>
            </p:spPr>
            <p:txBody>
              <a:bodyPr wrap="none" rtlCol="0" anchor="ctr">
                <a:spAutoFit/>
              </a:bodyPr>
              <a:lstStyle/>
              <a:p>
                <a:pPr algn="ctr"/>
                <a:endParaRPr lang="ko-KR" altLang="en-US" dirty="0" smtClean="0"/>
              </a:p>
            </p:txBody>
          </p:sp>
        </p:grpSp>
        <p:sp>
          <p:nvSpPr>
            <p:cNvPr id="9" name="TextBox 8"/>
            <p:cNvSpPr txBox="1"/>
            <p:nvPr/>
          </p:nvSpPr>
          <p:spPr>
            <a:xfrm>
              <a:off x="4481565" y="3966477"/>
              <a:ext cx="3752950" cy="369332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25400">
              <a:solidFill>
                <a:srgbClr val="FF0000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ko-KR" altLang="en-US" dirty="0" smtClean="0"/>
                <a:t>프록시 툴을 사용해 </a:t>
              </a:r>
              <a:r>
                <a:rPr lang="en-US" altLang="ko-KR" dirty="0" smtClean="0"/>
                <a:t>XSS </a:t>
              </a:r>
              <a:r>
                <a:rPr lang="ko-KR" altLang="en-US" dirty="0" smtClean="0"/>
                <a:t>구문 삽입</a:t>
              </a:r>
              <a:endParaRPr lang="ko-KR" altLang="en-US" dirty="0"/>
            </a:p>
          </p:txBody>
        </p:sp>
        <p:cxnSp>
          <p:nvCxnSpPr>
            <p:cNvPr id="11" name="직선 화살표 연결선 10"/>
            <p:cNvCxnSpPr>
              <a:stCxn id="9" idx="2"/>
              <a:endCxn id="7" idx="0"/>
            </p:cNvCxnSpPr>
            <p:nvPr/>
          </p:nvCxnSpPr>
          <p:spPr>
            <a:xfrm flipH="1">
              <a:off x="4918668" y="4335809"/>
              <a:ext cx="1439372" cy="1040059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2082969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그룹 5"/>
          <p:cNvGrpSpPr/>
          <p:nvPr/>
        </p:nvGrpSpPr>
        <p:grpSpPr>
          <a:xfrm>
            <a:off x="462224" y="185325"/>
            <a:ext cx="10385330" cy="5827505"/>
            <a:chOff x="532563" y="356147"/>
            <a:chExt cx="10385330" cy="5827505"/>
          </a:xfrm>
        </p:grpSpPr>
        <p:pic>
          <p:nvPicPr>
            <p:cNvPr id="2" name="그림 1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32563" y="356147"/>
              <a:ext cx="10385330" cy="5827505"/>
            </a:xfrm>
            <a:prstGeom prst="rect">
              <a:avLst/>
            </a:prstGeom>
          </p:spPr>
        </p:pic>
        <p:sp>
          <p:nvSpPr>
            <p:cNvPr id="3" name="직사각형 2"/>
            <p:cNvSpPr/>
            <p:nvPr/>
          </p:nvSpPr>
          <p:spPr>
            <a:xfrm>
              <a:off x="5265336" y="4702629"/>
              <a:ext cx="2853732" cy="1095270"/>
            </a:xfrm>
            <a:prstGeom prst="rect">
              <a:avLst/>
            </a:prstGeom>
            <a:noFill/>
            <a:ln w="25400">
              <a:solidFill>
                <a:srgbClr val="FF0000"/>
              </a:solidFill>
            </a:ln>
          </p:spPr>
          <p:txBody>
            <a:bodyPr wrap="none" rtlCol="0" anchor="ctr">
              <a:spAutoFit/>
            </a:bodyPr>
            <a:lstStyle/>
            <a:p>
              <a:pPr algn="ctr"/>
              <a:endParaRPr lang="ko-KR" altLang="en-US" dirty="0" smtClean="0"/>
            </a:p>
          </p:txBody>
        </p:sp>
        <p:cxnSp>
          <p:nvCxnSpPr>
            <p:cNvPr id="5" name="직선 화살표 연결선 4"/>
            <p:cNvCxnSpPr>
              <a:stCxn id="3" idx="0"/>
            </p:cNvCxnSpPr>
            <p:nvPr/>
          </p:nvCxnSpPr>
          <p:spPr>
            <a:xfrm flipV="1">
              <a:off x="6692202" y="1929284"/>
              <a:ext cx="0" cy="2773345"/>
            </a:xfrm>
            <a:prstGeom prst="straightConnector1">
              <a:avLst/>
            </a:prstGeom>
            <a:ln w="254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" name="TextBox 6"/>
          <p:cNvSpPr txBox="1"/>
          <p:nvPr/>
        </p:nvSpPr>
        <p:spPr>
          <a:xfrm>
            <a:off x="693337" y="6209882"/>
            <a:ext cx="1661032" cy="36933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5400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XSS </a:t>
            </a:r>
            <a:r>
              <a:rPr lang="ko-KR" altLang="en-US" dirty="0" smtClean="0"/>
              <a:t>동작 확인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330153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조치 방안</a:t>
            </a:r>
            <a:endParaRPr lang="ko-KR" altLang="en-US" dirty="0"/>
          </a:p>
        </p:txBody>
      </p:sp>
      <p:sp>
        <p:nvSpPr>
          <p:cNvPr id="4" name="세로 텍스트 개체 틀 3"/>
          <p:cNvSpPr>
            <a:spLocks noGrp="1"/>
          </p:cNvSpPr>
          <p:nvPr>
            <p:ph type="body" orient="vert" idx="1"/>
          </p:nvPr>
        </p:nvSpPr>
        <p:spPr/>
        <p:txBody>
          <a:bodyPr vert="horz" anchor="t" anchorCtr="0"/>
          <a:lstStyle/>
          <a:p>
            <a:r>
              <a:rPr lang="en-US" altLang="ko-KR" dirty="0" smtClean="0"/>
              <a:t>XSS</a:t>
            </a:r>
            <a:r>
              <a:rPr lang="ko-KR" altLang="en-US" dirty="0" smtClean="0"/>
              <a:t>에 </a:t>
            </a:r>
            <a:r>
              <a:rPr lang="ko-KR" altLang="en-US" dirty="0"/>
              <a:t>유효한 특수 문자에 대한 </a:t>
            </a:r>
            <a:r>
              <a:rPr lang="ko-KR" altLang="en-US" dirty="0" err="1"/>
              <a:t>입력값</a:t>
            </a:r>
            <a:r>
              <a:rPr lang="ko-KR" altLang="en-US" dirty="0"/>
              <a:t> 검증 및 </a:t>
            </a:r>
            <a:r>
              <a:rPr lang="ko-KR" altLang="en-US" dirty="0" err="1" smtClean="0"/>
              <a:t>필터링</a:t>
            </a:r>
            <a:r>
              <a:rPr lang="ko-KR" altLang="en-US" dirty="0" smtClean="0"/>
              <a:t> 적용</a:t>
            </a:r>
            <a:endParaRPr lang="en-US" altLang="ko-KR" dirty="0" smtClean="0"/>
          </a:p>
          <a:p>
            <a:pPr marL="457200" lvl="1" indent="0">
              <a:buNone/>
            </a:pPr>
            <a:r>
              <a:rPr lang="ko-KR" altLang="en-US" sz="1600" dirty="0"/>
              <a:t>서버 측에서 </a:t>
            </a:r>
            <a:r>
              <a:rPr lang="en-US" altLang="ko-KR" sz="1600" dirty="0"/>
              <a:t>&lt; &gt; " ' &amp; </a:t>
            </a:r>
            <a:r>
              <a:rPr lang="ko-KR" altLang="en-US" sz="1600" dirty="0"/>
              <a:t>등 </a:t>
            </a:r>
            <a:r>
              <a:rPr lang="en-US" altLang="ko-KR" sz="1600" dirty="0"/>
              <a:t>XSS</a:t>
            </a:r>
            <a:r>
              <a:rPr lang="ko-KR" altLang="en-US" sz="1600" dirty="0"/>
              <a:t>에 유효한 특수문자 입력을 안전한 문자</a:t>
            </a:r>
            <a:r>
              <a:rPr lang="en-US" altLang="ko-KR" sz="1600" dirty="0"/>
              <a:t>(HTML </a:t>
            </a:r>
            <a:r>
              <a:rPr lang="ko-KR" altLang="en-US" sz="1600" dirty="0" err="1"/>
              <a:t>엔티티</a:t>
            </a:r>
            <a:r>
              <a:rPr lang="en-US" altLang="ko-KR" sz="1600" dirty="0"/>
              <a:t>)</a:t>
            </a:r>
            <a:r>
              <a:rPr lang="ko-KR" altLang="en-US" sz="1600" dirty="0"/>
              <a:t>로 치환하는 </a:t>
            </a:r>
            <a:r>
              <a:rPr lang="ko-KR" altLang="en-US" sz="1600" dirty="0" err="1"/>
              <a:t>로직</a:t>
            </a:r>
            <a:r>
              <a:rPr lang="ko-KR" altLang="en-US" sz="1600" dirty="0"/>
              <a:t> 구현</a:t>
            </a:r>
          </a:p>
          <a:p>
            <a:pPr marL="457200" lvl="1" indent="0">
              <a:buNone/>
            </a:pPr>
            <a:r>
              <a:rPr lang="en-US" altLang="ko-KR" sz="1400" dirty="0" smtClean="0"/>
              <a:t>Ex: </a:t>
            </a:r>
            <a:r>
              <a:rPr lang="en-US" altLang="ko-KR" sz="1400" dirty="0"/>
              <a:t>&lt; </a:t>
            </a:r>
            <a:r>
              <a:rPr lang="en-US" altLang="ko-KR" sz="1400" dirty="0" smtClean="0">
                <a:sym typeface="Wingdings" panose="05000000000000000000" pitchFamily="2" charset="2"/>
              </a:rPr>
              <a:t></a:t>
            </a:r>
            <a:r>
              <a:rPr lang="en-US" altLang="ko-KR" sz="1400" dirty="0" smtClean="0"/>
              <a:t> </a:t>
            </a:r>
            <a:r>
              <a:rPr lang="en-US" altLang="ko-KR" sz="1400" dirty="0"/>
              <a:t>&amp;</a:t>
            </a:r>
            <a:r>
              <a:rPr lang="en-US" altLang="ko-KR" sz="1400" dirty="0" err="1"/>
              <a:t>lt</a:t>
            </a:r>
            <a:r>
              <a:rPr lang="en-US" altLang="ko-KR" sz="1400" dirty="0"/>
              <a:t>;, &gt; </a:t>
            </a:r>
            <a:r>
              <a:rPr lang="en-US" altLang="ko-KR" sz="1400" dirty="0" smtClean="0">
                <a:sym typeface="Wingdings" panose="05000000000000000000" pitchFamily="2" charset="2"/>
              </a:rPr>
              <a:t></a:t>
            </a:r>
            <a:r>
              <a:rPr lang="en-US" altLang="ko-KR" sz="1400" dirty="0" smtClean="0"/>
              <a:t> </a:t>
            </a:r>
            <a:r>
              <a:rPr lang="en-US" altLang="ko-KR" sz="1400" dirty="0"/>
              <a:t>&amp;</a:t>
            </a:r>
            <a:r>
              <a:rPr lang="en-US" altLang="ko-KR" sz="1400" dirty="0" err="1"/>
              <a:t>gt</a:t>
            </a:r>
            <a:r>
              <a:rPr lang="en-US" altLang="ko-KR" sz="1400" dirty="0"/>
              <a:t>;, " </a:t>
            </a:r>
            <a:r>
              <a:rPr lang="en-US" altLang="ko-KR" sz="1400" dirty="0" smtClean="0">
                <a:sym typeface="Wingdings" panose="05000000000000000000" pitchFamily="2" charset="2"/>
              </a:rPr>
              <a:t></a:t>
            </a:r>
            <a:r>
              <a:rPr lang="en-US" altLang="ko-KR" sz="1400" dirty="0" smtClean="0"/>
              <a:t> </a:t>
            </a:r>
            <a:r>
              <a:rPr lang="en-US" altLang="ko-KR" sz="1400" dirty="0"/>
              <a:t>&amp;</a:t>
            </a:r>
            <a:r>
              <a:rPr lang="en-US" altLang="ko-KR" sz="1400" dirty="0" err="1"/>
              <a:t>quot</a:t>
            </a:r>
            <a:r>
              <a:rPr lang="en-US" altLang="ko-KR" sz="1400" dirty="0"/>
              <a:t>;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3060204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2235200"/>
            <a:ext cx="9144000" cy="2387600"/>
          </a:xfrm>
        </p:spPr>
        <p:txBody>
          <a:bodyPr anchor="ctr"/>
          <a:lstStyle/>
          <a:p>
            <a:r>
              <a:rPr lang="ko-KR" altLang="en-US" dirty="0" smtClean="0"/>
              <a:t>악성 파일 업로드</a:t>
            </a:r>
            <a:endParaRPr lang="ko-KR" altLang="en-US" dirty="0"/>
          </a:p>
        </p:txBody>
      </p:sp>
      <p:sp>
        <p:nvSpPr>
          <p:cNvPr id="3" name="텍스트 개체 틀 4"/>
          <p:cNvSpPr txBox="1">
            <a:spLocks/>
          </p:cNvSpPr>
          <p:nvPr/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URL : </a:t>
            </a:r>
            <a:r>
              <a:rPr lang="ko-KR" altLang="en-US" dirty="0"/>
              <a:t>https://skmagic.com/customer/insertInquiry</a:t>
            </a:r>
          </a:p>
        </p:txBody>
      </p:sp>
    </p:spTree>
    <p:extLst>
      <p:ext uri="{BB962C8B-B14F-4D97-AF65-F5344CB8AC3E}">
        <p14:creationId xmlns:p14="http://schemas.microsoft.com/office/powerpoint/2010/main" val="37580811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/>
          <p:cNvGrpSpPr/>
          <p:nvPr/>
        </p:nvGrpSpPr>
        <p:grpSpPr>
          <a:xfrm>
            <a:off x="813728" y="1038259"/>
            <a:ext cx="9110004" cy="5121299"/>
            <a:chOff x="572568" y="586083"/>
            <a:chExt cx="9110004" cy="5121299"/>
          </a:xfrm>
        </p:grpSpPr>
        <p:pic>
          <p:nvPicPr>
            <p:cNvPr id="3" name="그림 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72568" y="586083"/>
              <a:ext cx="9110004" cy="5121299"/>
            </a:xfrm>
            <a:prstGeom prst="rect">
              <a:avLst/>
            </a:prstGeom>
          </p:spPr>
        </p:pic>
        <p:sp>
          <p:nvSpPr>
            <p:cNvPr id="4" name="직사각형 3"/>
            <p:cNvSpPr/>
            <p:nvPr/>
          </p:nvSpPr>
          <p:spPr>
            <a:xfrm>
              <a:off x="8690994" y="4009938"/>
              <a:ext cx="738232" cy="335559"/>
            </a:xfrm>
            <a:prstGeom prst="rect">
              <a:avLst/>
            </a:prstGeom>
            <a:noFill/>
            <a:ln w="25400">
              <a:solidFill>
                <a:srgbClr val="FF0000"/>
              </a:solidFill>
            </a:ln>
          </p:spPr>
          <p:txBody>
            <a:bodyPr wrap="none" rtlCol="0" anchor="ctr">
              <a:spAutoFit/>
            </a:bodyPr>
            <a:lstStyle/>
            <a:p>
              <a:pPr algn="ctr"/>
              <a:endParaRPr lang="ko-KR" altLang="en-US" dirty="0" smtClean="0"/>
            </a:p>
          </p:txBody>
        </p:sp>
      </p:grpSp>
      <p:sp>
        <p:nvSpPr>
          <p:cNvPr id="5" name="TextBox 4"/>
          <p:cNvSpPr txBox="1"/>
          <p:nvPr/>
        </p:nvSpPr>
        <p:spPr>
          <a:xfrm>
            <a:off x="813728" y="393484"/>
            <a:ext cx="4605748" cy="36933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5400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dirty="0" err="1" smtClean="0"/>
              <a:t>제품후기</a:t>
            </a:r>
            <a:r>
              <a:rPr lang="en-US" altLang="ko-KR" dirty="0" smtClean="0"/>
              <a:t>/</a:t>
            </a:r>
            <a:r>
              <a:rPr lang="ko-KR" altLang="en-US" dirty="0" smtClean="0"/>
              <a:t>문의 </a:t>
            </a:r>
            <a:r>
              <a:rPr lang="en-US" altLang="ko-KR" dirty="0" smtClean="0">
                <a:sym typeface="Wingdings" panose="05000000000000000000" pitchFamily="2" charset="2"/>
              </a:rPr>
              <a:t> </a:t>
            </a:r>
            <a:r>
              <a:rPr lang="en-US" altLang="ko-KR" dirty="0" smtClean="0"/>
              <a:t>1:1 </a:t>
            </a:r>
            <a:r>
              <a:rPr lang="ko-KR" altLang="en-US" dirty="0" smtClean="0"/>
              <a:t>문의 </a:t>
            </a:r>
            <a:r>
              <a:rPr lang="en-US" altLang="ko-KR" dirty="0" smtClean="0">
                <a:sym typeface="Wingdings" panose="05000000000000000000" pitchFamily="2" charset="2"/>
              </a:rPr>
              <a:t> </a:t>
            </a:r>
            <a:r>
              <a:rPr lang="ko-KR" altLang="en-US" dirty="0" smtClean="0">
                <a:sym typeface="Wingdings" panose="05000000000000000000" pitchFamily="2" charset="2"/>
              </a:rPr>
              <a:t>새 문의 등록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756172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그룹 5"/>
          <p:cNvGrpSpPr/>
          <p:nvPr/>
        </p:nvGrpSpPr>
        <p:grpSpPr>
          <a:xfrm>
            <a:off x="230736" y="95927"/>
            <a:ext cx="11531749" cy="6467318"/>
            <a:chOff x="230736" y="95927"/>
            <a:chExt cx="11531749" cy="6467318"/>
          </a:xfrm>
        </p:grpSpPr>
        <p:pic>
          <p:nvPicPr>
            <p:cNvPr id="2" name="그림 1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30736" y="95927"/>
              <a:ext cx="11531749" cy="6467318"/>
            </a:xfrm>
            <a:prstGeom prst="rect">
              <a:avLst/>
            </a:prstGeom>
          </p:spPr>
        </p:pic>
        <p:sp>
          <p:nvSpPr>
            <p:cNvPr id="3" name="직사각형 2"/>
            <p:cNvSpPr/>
            <p:nvPr/>
          </p:nvSpPr>
          <p:spPr>
            <a:xfrm>
              <a:off x="5264209" y="4358355"/>
              <a:ext cx="1606610" cy="957129"/>
            </a:xfrm>
            <a:prstGeom prst="rect">
              <a:avLst/>
            </a:prstGeom>
            <a:noFill/>
            <a:ln w="25400">
              <a:solidFill>
                <a:srgbClr val="FF0000"/>
              </a:solidFill>
            </a:ln>
          </p:spPr>
          <p:txBody>
            <a:bodyPr wrap="none" rtlCol="0" anchor="ctr">
              <a:spAutoFit/>
            </a:bodyPr>
            <a:lstStyle/>
            <a:p>
              <a:pPr algn="ctr"/>
              <a:endParaRPr lang="ko-KR" altLang="en-US" dirty="0" smtClean="0"/>
            </a:p>
          </p:txBody>
        </p:sp>
        <p:cxnSp>
          <p:nvCxnSpPr>
            <p:cNvPr id="5" name="직선 화살표 연결선 4"/>
            <p:cNvCxnSpPr>
              <a:stCxn id="3" idx="2"/>
            </p:cNvCxnSpPr>
            <p:nvPr/>
          </p:nvCxnSpPr>
          <p:spPr>
            <a:xfrm>
              <a:off x="6067514" y="5315484"/>
              <a:ext cx="803305" cy="846034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" name="TextBox 6"/>
          <p:cNvSpPr txBox="1"/>
          <p:nvPr/>
        </p:nvSpPr>
        <p:spPr>
          <a:xfrm>
            <a:off x="495656" y="555476"/>
            <a:ext cx="9273693" cy="646331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5400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Apache, tomcat, window </a:t>
            </a:r>
            <a:r>
              <a:rPr lang="ko-KR" altLang="en-US" dirty="0" smtClean="0"/>
              <a:t>환경에서 동작이 가능한 서버사이드 스크립트로 작성된</a:t>
            </a:r>
            <a:endParaRPr lang="en-US" altLang="ko-KR" dirty="0" smtClean="0"/>
          </a:p>
          <a:p>
            <a:r>
              <a:rPr lang="ko-KR" altLang="en-US" dirty="0" smtClean="0"/>
              <a:t>악성 파일 </a:t>
            </a:r>
            <a:r>
              <a:rPr lang="en-US" altLang="ko-KR" dirty="0" smtClean="0"/>
              <a:t>3</a:t>
            </a:r>
            <a:r>
              <a:rPr lang="ko-KR" altLang="en-US" dirty="0" smtClean="0"/>
              <a:t>개 업로드</a:t>
            </a:r>
            <a:r>
              <a:rPr lang="ko-KR" altLang="en-US" dirty="0"/>
              <a:t> </a:t>
            </a:r>
            <a:r>
              <a:rPr lang="en-US" altLang="ko-KR" dirty="0" smtClean="0"/>
              <a:t>(</a:t>
            </a:r>
            <a:r>
              <a:rPr lang="ko-KR" altLang="en-US" dirty="0" smtClean="0"/>
              <a:t>이중 </a:t>
            </a:r>
            <a:r>
              <a:rPr lang="ko-KR" altLang="en-US" dirty="0" err="1" smtClean="0"/>
              <a:t>확장자</a:t>
            </a:r>
            <a:r>
              <a:rPr lang="en-US" altLang="ko-KR" dirty="0" smtClean="0"/>
              <a:t>(.php.jpg)</a:t>
            </a:r>
            <a:r>
              <a:rPr lang="ko-KR" altLang="en-US" dirty="0" smtClean="0"/>
              <a:t> 사용하여 프론트 측 </a:t>
            </a:r>
            <a:r>
              <a:rPr lang="ko-KR" altLang="en-US" dirty="0" err="1" smtClean="0"/>
              <a:t>확장자</a:t>
            </a:r>
            <a:r>
              <a:rPr lang="ko-KR" altLang="en-US" dirty="0" smtClean="0"/>
              <a:t> 검증 </a:t>
            </a:r>
            <a:r>
              <a:rPr lang="ko-KR" altLang="en-US" dirty="0" err="1" smtClean="0"/>
              <a:t>로직</a:t>
            </a:r>
            <a:r>
              <a:rPr lang="ko-KR" altLang="en-US" dirty="0" smtClean="0"/>
              <a:t> 우회</a:t>
            </a:r>
            <a:r>
              <a:rPr lang="en-US" altLang="ko-KR" dirty="0" smtClean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1764134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124124" y="176169"/>
            <a:ext cx="4755725" cy="36933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5400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/>
              <a:t>https://skmagic.com/customer/insertInquiry</a:t>
            </a:r>
            <a:endParaRPr lang="ko-KR" altLang="en-US" dirty="0"/>
          </a:p>
        </p:txBody>
      </p:sp>
      <p:grpSp>
        <p:nvGrpSpPr>
          <p:cNvPr id="10" name="그룹 9"/>
          <p:cNvGrpSpPr/>
          <p:nvPr/>
        </p:nvGrpSpPr>
        <p:grpSpPr>
          <a:xfrm>
            <a:off x="394462" y="709301"/>
            <a:ext cx="10402089" cy="5842706"/>
            <a:chOff x="394462" y="709301"/>
            <a:chExt cx="10402089" cy="5842706"/>
          </a:xfrm>
        </p:grpSpPr>
        <p:pic>
          <p:nvPicPr>
            <p:cNvPr id="2" name="그림 1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94462" y="709301"/>
              <a:ext cx="10402089" cy="5842706"/>
            </a:xfrm>
            <a:prstGeom prst="rect">
              <a:avLst/>
            </a:prstGeom>
          </p:spPr>
        </p:pic>
        <p:sp>
          <p:nvSpPr>
            <p:cNvPr id="5" name="직사각형 4"/>
            <p:cNvSpPr/>
            <p:nvPr/>
          </p:nvSpPr>
          <p:spPr>
            <a:xfrm>
              <a:off x="4412609" y="2583809"/>
              <a:ext cx="2172749" cy="2667699"/>
            </a:xfrm>
            <a:prstGeom prst="rect">
              <a:avLst/>
            </a:prstGeom>
            <a:noFill/>
            <a:ln w="25400">
              <a:solidFill>
                <a:srgbClr val="FF0000"/>
              </a:solidFill>
            </a:ln>
          </p:spPr>
          <p:txBody>
            <a:bodyPr wrap="none" rtlCol="0" anchor="ctr">
              <a:spAutoFit/>
            </a:bodyPr>
            <a:lstStyle/>
            <a:p>
              <a:pPr algn="ctr"/>
              <a:endParaRPr lang="ko-KR" altLang="en-US" dirty="0" smtClean="0"/>
            </a:p>
          </p:txBody>
        </p:sp>
        <p:pic>
          <p:nvPicPr>
            <p:cNvPr id="6" name="그림 5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197097" y="2379563"/>
              <a:ext cx="2076190" cy="3076190"/>
            </a:xfrm>
            <a:prstGeom prst="rect">
              <a:avLst/>
            </a:prstGeom>
          </p:spPr>
        </p:pic>
        <p:cxnSp>
          <p:nvCxnSpPr>
            <p:cNvPr id="8" name="직선 화살표 연결선 7"/>
            <p:cNvCxnSpPr>
              <a:stCxn id="5" idx="3"/>
              <a:endCxn id="6" idx="1"/>
            </p:cNvCxnSpPr>
            <p:nvPr/>
          </p:nvCxnSpPr>
          <p:spPr>
            <a:xfrm flipV="1">
              <a:off x="6585358" y="3917658"/>
              <a:ext cx="611739" cy="1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TextBox 10"/>
          <p:cNvSpPr txBox="1"/>
          <p:nvPr/>
        </p:nvSpPr>
        <p:spPr>
          <a:xfrm>
            <a:off x="877025" y="1168430"/>
            <a:ext cx="7071167" cy="646331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5400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dirty="0" smtClean="0"/>
              <a:t>프록시 툴을 사용하여 업로드 시 사용했던 이중 </a:t>
            </a:r>
            <a:r>
              <a:rPr lang="ko-KR" altLang="en-US" dirty="0" err="1" smtClean="0"/>
              <a:t>확장자를</a:t>
            </a:r>
            <a:r>
              <a:rPr lang="ko-KR" altLang="en-US" dirty="0" smtClean="0"/>
              <a:t> 제거하여</a:t>
            </a:r>
            <a:endParaRPr lang="en-US" altLang="ko-KR" dirty="0" smtClean="0"/>
          </a:p>
          <a:p>
            <a:r>
              <a:rPr lang="ko-KR" altLang="en-US" dirty="0" smtClean="0"/>
              <a:t>서버 측에서 실행 가능한 파일로 변조</a:t>
            </a:r>
            <a:r>
              <a:rPr lang="en-US" altLang="ko-KR" dirty="0"/>
              <a:t> </a:t>
            </a:r>
            <a:r>
              <a:rPr lang="ko-KR" altLang="en-US" dirty="0" smtClean="0"/>
              <a:t>및 업로드 시도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499004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그룹 10"/>
          <p:cNvGrpSpPr/>
          <p:nvPr/>
        </p:nvGrpSpPr>
        <p:grpSpPr>
          <a:xfrm>
            <a:off x="164287" y="119640"/>
            <a:ext cx="11674341" cy="6571405"/>
            <a:chOff x="164287" y="119640"/>
            <a:chExt cx="11674341" cy="6571405"/>
          </a:xfrm>
        </p:grpSpPr>
        <p:grpSp>
          <p:nvGrpSpPr>
            <p:cNvPr id="6" name="그룹 5"/>
            <p:cNvGrpSpPr/>
            <p:nvPr/>
          </p:nvGrpSpPr>
          <p:grpSpPr>
            <a:xfrm>
              <a:off x="164287" y="119640"/>
              <a:ext cx="11674341" cy="6571405"/>
              <a:chOff x="164287" y="119640"/>
              <a:chExt cx="11674341" cy="6571405"/>
            </a:xfrm>
          </p:grpSpPr>
          <p:pic>
            <p:nvPicPr>
              <p:cNvPr id="2" name="그림 1"/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164287" y="119640"/>
                <a:ext cx="11674341" cy="6571405"/>
              </a:xfrm>
              <a:prstGeom prst="rect">
                <a:avLst/>
              </a:prstGeom>
            </p:spPr>
          </p:pic>
          <p:sp>
            <p:nvSpPr>
              <p:cNvPr id="3" name="직사각형 2"/>
              <p:cNvSpPr/>
              <p:nvPr/>
            </p:nvSpPr>
            <p:spPr>
              <a:xfrm>
                <a:off x="8750893" y="2281727"/>
                <a:ext cx="2956845" cy="299103"/>
              </a:xfrm>
              <a:prstGeom prst="rect">
                <a:avLst/>
              </a:prstGeom>
              <a:noFill/>
              <a:ln w="25400">
                <a:solidFill>
                  <a:srgbClr val="FF0000"/>
                </a:solidFill>
              </a:ln>
            </p:spPr>
            <p:txBody>
              <a:bodyPr wrap="none" rtlCol="0" anchor="ctr">
                <a:spAutoFit/>
              </a:bodyPr>
              <a:lstStyle/>
              <a:p>
                <a:pPr algn="ctr"/>
                <a:endParaRPr lang="ko-KR" altLang="en-US" dirty="0" smtClean="0"/>
              </a:p>
            </p:txBody>
          </p:sp>
          <p:sp>
            <p:nvSpPr>
              <p:cNvPr id="4" name="직사각형 3"/>
              <p:cNvSpPr/>
              <p:nvPr/>
            </p:nvSpPr>
            <p:spPr>
              <a:xfrm>
                <a:off x="8750893" y="3264494"/>
                <a:ext cx="3025212" cy="316194"/>
              </a:xfrm>
              <a:prstGeom prst="rect">
                <a:avLst/>
              </a:prstGeom>
              <a:noFill/>
              <a:ln w="25400">
                <a:solidFill>
                  <a:srgbClr val="FF0000"/>
                </a:solidFill>
              </a:ln>
            </p:spPr>
            <p:txBody>
              <a:bodyPr wrap="none" rtlCol="0" anchor="ctr">
                <a:spAutoFit/>
              </a:bodyPr>
              <a:lstStyle/>
              <a:p>
                <a:pPr algn="ctr"/>
                <a:endParaRPr lang="ko-KR" altLang="en-US" dirty="0" smtClean="0"/>
              </a:p>
            </p:txBody>
          </p:sp>
          <p:sp>
            <p:nvSpPr>
              <p:cNvPr id="5" name="직사각형 4"/>
              <p:cNvSpPr/>
              <p:nvPr/>
            </p:nvSpPr>
            <p:spPr>
              <a:xfrm>
                <a:off x="8750893" y="4281443"/>
                <a:ext cx="3016666" cy="282011"/>
              </a:xfrm>
              <a:prstGeom prst="rect">
                <a:avLst/>
              </a:prstGeom>
              <a:noFill/>
              <a:ln w="25400">
                <a:solidFill>
                  <a:srgbClr val="FF0000"/>
                </a:solidFill>
              </a:ln>
            </p:spPr>
            <p:txBody>
              <a:bodyPr wrap="none" rtlCol="0" anchor="ctr">
                <a:spAutoFit/>
              </a:bodyPr>
              <a:lstStyle/>
              <a:p>
                <a:pPr algn="ctr"/>
                <a:endParaRPr lang="ko-KR" altLang="en-US" dirty="0" smtClean="0"/>
              </a:p>
            </p:txBody>
          </p:sp>
        </p:grpSp>
        <p:sp>
          <p:nvSpPr>
            <p:cNvPr id="8" name="TextBox 7"/>
            <p:cNvSpPr txBox="1"/>
            <p:nvPr/>
          </p:nvSpPr>
          <p:spPr>
            <a:xfrm>
              <a:off x="358925" y="2914759"/>
              <a:ext cx="7032053" cy="1015663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25400">
              <a:solidFill>
                <a:srgbClr val="FF0000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altLang="ko-KR" sz="1200" dirty="0"/>
                <a:t>https://static.skmagic.com/files/counsel/20260820/54bf7fd5-f055-4467-8c04-f374cd5b70e6.php</a:t>
              </a:r>
            </a:p>
            <a:p>
              <a:endParaRPr lang="en-US" altLang="ko-KR" sz="1200" dirty="0"/>
            </a:p>
            <a:p>
              <a:r>
                <a:rPr lang="en-US" altLang="ko-KR" sz="1200" dirty="0"/>
                <a:t>https://static.skmagic.com/files/counsel/20260820/beeee345-4d26-4e33-bb4e-05d32fb3d1e7.aspx</a:t>
              </a:r>
            </a:p>
            <a:p>
              <a:endParaRPr lang="en-US" altLang="ko-KR" sz="1200" dirty="0"/>
            </a:p>
            <a:p>
              <a:r>
                <a:rPr lang="en-US" altLang="ko-KR" sz="1200" dirty="0"/>
                <a:t>https://static.skmagic.com/files/counsel/20260820/568e3648-d7ef-450e-8bba-39a7f58faddd.jsp</a:t>
              </a:r>
              <a:endParaRPr lang="ko-KR" altLang="en-US" sz="1200" dirty="0"/>
            </a:p>
          </p:txBody>
        </p:sp>
        <p:cxnSp>
          <p:nvCxnSpPr>
            <p:cNvPr id="10" name="직선 화살표 연결선 9"/>
            <p:cNvCxnSpPr>
              <a:stCxn id="4" idx="1"/>
              <a:endCxn id="8" idx="3"/>
            </p:cNvCxnSpPr>
            <p:nvPr/>
          </p:nvCxnSpPr>
          <p:spPr>
            <a:xfrm flipH="1">
              <a:off x="7390978" y="3422591"/>
              <a:ext cx="1359915" cy="0"/>
            </a:xfrm>
            <a:prstGeom prst="straightConnector1">
              <a:avLst/>
            </a:prstGeom>
            <a:ln w="25400">
              <a:solidFill>
                <a:schemeClr val="accent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TextBox 11"/>
          <p:cNvSpPr txBox="1"/>
          <p:nvPr/>
        </p:nvSpPr>
        <p:spPr>
          <a:xfrm>
            <a:off x="256375" y="633054"/>
            <a:ext cx="9855583" cy="36933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5400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dirty="0" smtClean="0"/>
              <a:t>개발자도구로 첨부된 악성파일 확인 결과 </a:t>
            </a:r>
            <a:r>
              <a:rPr lang="ko-KR" altLang="en-US" dirty="0" err="1" smtClean="0"/>
              <a:t>서버측에서</a:t>
            </a:r>
            <a:r>
              <a:rPr lang="ko-KR" altLang="en-US" dirty="0" smtClean="0"/>
              <a:t> 실행 가능한 </a:t>
            </a:r>
            <a:r>
              <a:rPr lang="ko-KR" altLang="en-US" dirty="0" err="1" smtClean="0"/>
              <a:t>확장자로</a:t>
            </a:r>
            <a:r>
              <a:rPr lang="ko-KR" altLang="en-US" dirty="0" smtClean="0"/>
              <a:t> 업로드 성공 확인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864705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그룹 7"/>
          <p:cNvGrpSpPr/>
          <p:nvPr/>
        </p:nvGrpSpPr>
        <p:grpSpPr>
          <a:xfrm>
            <a:off x="180519" y="282011"/>
            <a:ext cx="11215683" cy="6325533"/>
            <a:chOff x="180519" y="282011"/>
            <a:chExt cx="11215683" cy="6325533"/>
          </a:xfrm>
        </p:grpSpPr>
        <p:pic>
          <p:nvPicPr>
            <p:cNvPr id="4" name="그림 3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80519" y="282011"/>
              <a:ext cx="11215683" cy="6325533"/>
            </a:xfrm>
            <a:prstGeom prst="rect">
              <a:avLst/>
            </a:prstGeom>
          </p:spPr>
        </p:pic>
        <p:sp>
          <p:nvSpPr>
            <p:cNvPr id="5" name="직사각형 4"/>
            <p:cNvSpPr/>
            <p:nvPr/>
          </p:nvSpPr>
          <p:spPr>
            <a:xfrm>
              <a:off x="6233020" y="771787"/>
              <a:ext cx="3045204" cy="981512"/>
            </a:xfrm>
            <a:prstGeom prst="rect">
              <a:avLst/>
            </a:prstGeom>
            <a:noFill/>
            <a:ln w="25400">
              <a:solidFill>
                <a:srgbClr val="FF0000"/>
              </a:solidFill>
            </a:ln>
          </p:spPr>
          <p:txBody>
            <a:bodyPr wrap="none" rtlCol="0" anchor="ctr">
              <a:spAutoFit/>
            </a:bodyPr>
            <a:lstStyle/>
            <a:p>
              <a:pPr algn="ctr"/>
              <a:endParaRPr lang="ko-KR" altLang="en-US" dirty="0" smtClean="0"/>
            </a:p>
          </p:txBody>
        </p:sp>
        <p:cxnSp>
          <p:nvCxnSpPr>
            <p:cNvPr id="7" name="직선 화살표 연결선 6"/>
            <p:cNvCxnSpPr>
              <a:endCxn id="5" idx="2"/>
            </p:cNvCxnSpPr>
            <p:nvPr/>
          </p:nvCxnSpPr>
          <p:spPr>
            <a:xfrm flipV="1">
              <a:off x="2910980" y="1753299"/>
              <a:ext cx="4844642" cy="2273417"/>
            </a:xfrm>
            <a:prstGeom prst="straightConnector1">
              <a:avLst/>
            </a:prstGeom>
            <a:ln w="25400">
              <a:solidFill>
                <a:schemeClr val="accent4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TextBox 8"/>
          <p:cNvSpPr txBox="1"/>
          <p:nvPr/>
        </p:nvSpPr>
        <p:spPr>
          <a:xfrm>
            <a:off x="1853967" y="4823562"/>
            <a:ext cx="6159058" cy="36933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5400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p15 </a:t>
            </a:r>
            <a:r>
              <a:rPr lang="ko-KR" altLang="en-US" dirty="0" smtClean="0"/>
              <a:t>에서 확인한 파일 업로드 경로 이동 후 소스코드 확인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3074725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466" y="245549"/>
            <a:ext cx="11442474" cy="6404178"/>
          </a:xfrm>
          <a:prstGeom prst="rect">
            <a:avLst/>
          </a:prstGeom>
        </p:spPr>
      </p:pic>
      <p:sp>
        <p:nvSpPr>
          <p:cNvPr id="6" name="직사각형 5"/>
          <p:cNvSpPr/>
          <p:nvPr/>
        </p:nvSpPr>
        <p:spPr>
          <a:xfrm>
            <a:off x="436228" y="696286"/>
            <a:ext cx="2835478" cy="897622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txBody>
          <a:bodyPr wrap="none" rtlCol="0" anchor="ctr">
            <a:spAutoFit/>
          </a:bodyPr>
          <a:lstStyle/>
          <a:p>
            <a:pPr algn="ctr"/>
            <a:endParaRPr lang="ko-KR" altLang="en-US" dirty="0" smtClean="0"/>
          </a:p>
        </p:txBody>
      </p:sp>
      <p:sp>
        <p:nvSpPr>
          <p:cNvPr id="7" name="직사각형 6"/>
          <p:cNvSpPr/>
          <p:nvPr/>
        </p:nvSpPr>
        <p:spPr>
          <a:xfrm>
            <a:off x="4580389" y="721453"/>
            <a:ext cx="2189527" cy="478173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txBody>
          <a:bodyPr wrap="none" rtlCol="0" anchor="ctr">
            <a:spAutoFit/>
          </a:bodyPr>
          <a:lstStyle/>
          <a:p>
            <a:pPr algn="ctr"/>
            <a:endParaRPr lang="ko-KR" altLang="en-US" dirty="0" smtClean="0"/>
          </a:p>
        </p:txBody>
      </p:sp>
      <p:sp>
        <p:nvSpPr>
          <p:cNvPr id="8" name="직사각형 7"/>
          <p:cNvSpPr/>
          <p:nvPr/>
        </p:nvSpPr>
        <p:spPr>
          <a:xfrm>
            <a:off x="8665828" y="696286"/>
            <a:ext cx="2558642" cy="696286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txBody>
          <a:bodyPr wrap="none" rtlCol="0" anchor="ctr">
            <a:spAutoFit/>
          </a:bodyPr>
          <a:lstStyle/>
          <a:p>
            <a:pPr algn="ctr"/>
            <a:endParaRPr lang="ko-KR" altLang="en-US" dirty="0" smtClean="0"/>
          </a:p>
        </p:txBody>
      </p:sp>
      <p:sp>
        <p:nvSpPr>
          <p:cNvPr id="10" name="TextBox 9"/>
          <p:cNvSpPr txBox="1"/>
          <p:nvPr/>
        </p:nvSpPr>
        <p:spPr>
          <a:xfrm>
            <a:off x="1090569" y="2743200"/>
            <a:ext cx="4725974" cy="36933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5400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dirty="0" smtClean="0"/>
              <a:t>업로드한 </a:t>
            </a:r>
            <a:r>
              <a:rPr lang="en-US" altLang="ko-KR" dirty="0" smtClean="0"/>
              <a:t>3</a:t>
            </a:r>
            <a:r>
              <a:rPr lang="ko-KR" altLang="en-US" dirty="0" smtClean="0"/>
              <a:t>개 파일 모두 소스코드 확인 가능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2743841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조치 방안</a:t>
            </a:r>
            <a:endParaRPr lang="ko-KR" altLang="en-US" dirty="0"/>
          </a:p>
        </p:txBody>
      </p:sp>
      <p:sp>
        <p:nvSpPr>
          <p:cNvPr id="4" name="세로 텍스트 개체 틀 3"/>
          <p:cNvSpPr>
            <a:spLocks noGrp="1"/>
          </p:cNvSpPr>
          <p:nvPr>
            <p:ph type="body" orient="vert" idx="1"/>
          </p:nvPr>
        </p:nvSpPr>
        <p:spPr/>
        <p:txBody>
          <a:bodyPr vert="horz" anchor="t" anchorCtr="0"/>
          <a:lstStyle/>
          <a:p>
            <a:r>
              <a:rPr lang="ko-KR" altLang="en-US" dirty="0" smtClean="0"/>
              <a:t>클라이언트 측에 적용된 파일 </a:t>
            </a:r>
            <a:r>
              <a:rPr lang="ko-KR" altLang="en-US" dirty="0" err="1" smtClean="0"/>
              <a:t>확장자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필터링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로직을</a:t>
            </a:r>
            <a:r>
              <a:rPr lang="ko-KR" altLang="en-US" dirty="0" smtClean="0"/>
              <a:t> 서버 측에서 검증하도록 </a:t>
            </a:r>
            <a:r>
              <a:rPr lang="ko-KR" altLang="en-US" dirty="0" err="1" smtClean="0"/>
              <a:t>로직</a:t>
            </a:r>
            <a:r>
              <a:rPr lang="ko-KR" altLang="en-US" dirty="0" smtClean="0"/>
              <a:t> 수정</a:t>
            </a:r>
            <a:endParaRPr lang="en-US" altLang="ko-KR" dirty="0" smtClean="0"/>
          </a:p>
          <a:p>
            <a:endParaRPr lang="en-US" altLang="ko-KR" dirty="0"/>
          </a:p>
          <a:p>
            <a:r>
              <a:rPr lang="ko-KR" altLang="en-US" dirty="0" smtClean="0"/>
              <a:t>업로드 </a:t>
            </a:r>
            <a:r>
              <a:rPr lang="ko-KR" altLang="en-US" dirty="0" err="1" smtClean="0"/>
              <a:t>확장자는</a:t>
            </a:r>
            <a:r>
              <a:rPr lang="ko-KR" altLang="en-US" dirty="0" smtClean="0"/>
              <a:t> 화이트리스트 방식으로 관리하여 허용한 확장자만 업로드 할 수 있도록 제한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26276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5400">
          <a:solidFill>
            <a:srgbClr val="FF0000"/>
          </a:solidFill>
        </a:ln>
      </a:spPr>
      <a:bodyPr wrap="none" rtlCol="0" anchor="ctr">
        <a:spAutoFit/>
      </a:bodyPr>
      <a:lstStyle>
        <a:defPPr algn="ctr">
          <a:defRPr dirty="0" smtClean="0"/>
        </a:defPPr>
      </a:lstStyle>
    </a:spDef>
    <a:lnDef>
      <a:spPr>
        <a:ln w="25400">
          <a:solidFill>
            <a:schemeClr val="tx1"/>
          </a:solidFill>
          <a:tailEnd type="triangl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solidFill>
          <a:schemeClr val="accent4">
            <a:lumMod val="40000"/>
            <a:lumOff val="60000"/>
          </a:schemeClr>
        </a:solidFill>
        <a:ln w="25400">
          <a:solidFill>
            <a:srgbClr val="FF0000"/>
          </a:solidFill>
        </a:ln>
      </a:spPr>
      <a:bodyPr wrap="none" rtlCol="0">
        <a:spAutoFit/>
      </a:bodyPr>
      <a:lstStyle>
        <a:defPPr>
          <a:defRPr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352</TotalTime>
  <Words>301</Words>
  <Application>Microsoft Office PowerPoint</Application>
  <PresentationFormat>와이드스크린</PresentationFormat>
  <Paragraphs>46</Paragraphs>
  <Slides>18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18</vt:i4>
      </vt:variant>
    </vt:vector>
  </HeadingPairs>
  <TitlesOfParts>
    <vt:vector size="22" baseType="lpstr">
      <vt:lpstr>맑은 고딕</vt:lpstr>
      <vt:lpstr>Arial</vt:lpstr>
      <vt:lpstr>Wingdings</vt:lpstr>
      <vt:lpstr>Office 테마</vt:lpstr>
      <vt:lpstr>일일 모의해킹 결과</vt:lpstr>
      <vt:lpstr>에러 페이지 적용 미흡</vt:lpstr>
      <vt:lpstr>PowerPoint 프레젠테이션</vt:lpstr>
      <vt:lpstr>조치 방안</vt:lpstr>
      <vt:lpstr>크로스사이트 스크립트</vt:lpstr>
      <vt:lpstr>PowerPoint 프레젠테이션</vt:lpstr>
      <vt:lpstr>PowerPoint 프레젠테이션</vt:lpstr>
      <vt:lpstr>PowerPoint 프레젠테이션</vt:lpstr>
      <vt:lpstr>PowerPoint 프레젠테이션</vt:lpstr>
      <vt:lpstr>조치 방안</vt:lpstr>
      <vt:lpstr>악성 파일 업로드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조치 방안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일일 모의해킹 결과</dc:title>
  <dc:creator>user</dc:creator>
  <cp:lastModifiedBy>user</cp:lastModifiedBy>
  <cp:revision>19</cp:revision>
  <dcterms:created xsi:type="dcterms:W3CDTF">2026-08-18T02:08:12Z</dcterms:created>
  <dcterms:modified xsi:type="dcterms:W3CDTF">2026-08-21T00:20:12Z</dcterms:modified>
</cp:coreProperties>
</file>